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71" r:id="rId8"/>
    <p:sldId id="263" r:id="rId9"/>
    <p:sldId id="272" r:id="rId10"/>
    <p:sldId id="276" r:id="rId11"/>
    <p:sldId id="277" r:id="rId12"/>
    <p:sldId id="275" r:id="rId13"/>
    <p:sldId id="265" r:id="rId14"/>
    <p:sldId id="268" r:id="rId15"/>
    <p:sldId id="273" r:id="rId16"/>
    <p:sldId id="270" r:id="rId17"/>
    <p:sldId id="274" r:id="rId18"/>
    <p:sldId id="278" r:id="rId19"/>
    <p:sldId id="279" r:id="rId20"/>
    <p:sldId id="280" r:id="rId21"/>
    <p:sldId id="283" r:id="rId22"/>
    <p:sldId id="285" r:id="rId23"/>
    <p:sldId id="282" r:id="rId24"/>
    <p:sldId id="284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0253"/>
    <a:srgbClr val="59E9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168DE-6F2E-49A6-A255-70F25544DD51}" type="datetimeFigureOut">
              <a:rPr lang="ru-RU" smtClean="0"/>
              <a:t>04.02.2023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64E1-DA2D-4AA2-ACA7-705C23BF81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211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168DE-6F2E-49A6-A255-70F25544DD51}" type="datetimeFigureOut">
              <a:rPr lang="ru-RU" smtClean="0"/>
              <a:t>04.02.2023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64E1-DA2D-4AA2-ACA7-705C23BF81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1356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168DE-6F2E-49A6-A255-70F25544DD51}" type="datetimeFigureOut">
              <a:rPr lang="ru-RU" smtClean="0"/>
              <a:t>04.02.2023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64E1-DA2D-4AA2-ACA7-705C23BF81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2598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168DE-6F2E-49A6-A255-70F25544DD51}" type="datetimeFigureOut">
              <a:rPr lang="ru-RU" smtClean="0"/>
              <a:t>04.02.2023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64E1-DA2D-4AA2-ACA7-705C23BF81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7041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168DE-6F2E-49A6-A255-70F25544DD51}" type="datetimeFigureOut">
              <a:rPr lang="ru-RU" smtClean="0"/>
              <a:t>04.02.2023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64E1-DA2D-4AA2-ACA7-705C23BF81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393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168DE-6F2E-49A6-A255-70F25544DD51}" type="datetimeFigureOut">
              <a:rPr lang="ru-RU" smtClean="0"/>
              <a:t>04.02.2023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64E1-DA2D-4AA2-ACA7-705C23BF81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933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168DE-6F2E-49A6-A255-70F25544DD51}" type="datetimeFigureOut">
              <a:rPr lang="ru-RU" smtClean="0"/>
              <a:t>04.02.2023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64E1-DA2D-4AA2-ACA7-705C23BF81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4228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168DE-6F2E-49A6-A255-70F25544DD51}" type="datetimeFigureOut">
              <a:rPr lang="ru-RU" smtClean="0"/>
              <a:t>04.02.2023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64E1-DA2D-4AA2-ACA7-705C23BF81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642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168DE-6F2E-49A6-A255-70F25544DD51}" type="datetimeFigureOut">
              <a:rPr lang="ru-RU" smtClean="0"/>
              <a:t>04.02.2023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64E1-DA2D-4AA2-ACA7-705C23BF81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2491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168DE-6F2E-49A6-A255-70F25544DD51}" type="datetimeFigureOut">
              <a:rPr lang="ru-RU" smtClean="0"/>
              <a:t>04.02.2023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64E1-DA2D-4AA2-ACA7-705C23BF81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043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168DE-6F2E-49A6-A255-70F25544DD51}" type="datetimeFigureOut">
              <a:rPr lang="ru-RU" smtClean="0"/>
              <a:t>04.02.2023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64E1-DA2D-4AA2-ACA7-705C23BF81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4001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68DE-6F2E-49A6-A255-70F25544DD51}" type="datetimeFigureOut">
              <a:rPr lang="ru-RU" smtClean="0"/>
              <a:t>04.02.2023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F64E1-DA2D-4AA2-ACA7-705C23BF81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99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415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5800" y="308113"/>
            <a:ext cx="67345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Немного специфики:</a:t>
            </a:r>
            <a:endParaRPr lang="ru-RU" sz="60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0336" y="2573655"/>
            <a:ext cx="4187686" cy="14154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323776"/>
            <a:ext cx="682818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Сам процесс называется </a:t>
            </a:r>
            <a:endParaRPr lang="ru-RU" sz="44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  <a:p>
            <a:r>
              <a:rPr lang="ru-RU" sz="44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по</a:t>
            </a:r>
            <a:r>
              <a:rPr lang="en-US" sz="44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-</a:t>
            </a:r>
            <a:r>
              <a:rPr lang="ru-RU" sz="44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разному:</a:t>
            </a:r>
          </a:p>
          <a:p>
            <a:r>
              <a:rPr lang="ru-RU" sz="44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– </a:t>
            </a:r>
            <a:r>
              <a:rPr lang="en-US" sz="44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Google Dorking/Hacking</a:t>
            </a:r>
          </a:p>
          <a:p>
            <a:r>
              <a:rPr lang="ru-RU" sz="44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Другая сторона окопов:</a:t>
            </a:r>
          </a:p>
          <a:p>
            <a:r>
              <a:rPr lang="ru-RU" sz="44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- </a:t>
            </a:r>
            <a:r>
              <a:rPr lang="en-US" sz="4400" dirty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Search Word Optimization</a:t>
            </a:r>
            <a:endParaRPr lang="ru-RU" sz="4400" dirty="0">
              <a:solidFill>
                <a:srgbClr val="FC0253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806311" y="4801651"/>
            <a:ext cx="1080171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«</a:t>
            </a:r>
            <a:r>
              <a:rPr lang="ru-RU" sz="32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Google</a:t>
            </a:r>
            <a:r>
              <a:rPr lang="ru-RU" sz="32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sz="32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dorking</a:t>
            </a:r>
            <a:r>
              <a:rPr lang="ru-RU" sz="32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» </a:t>
            </a:r>
            <a:r>
              <a:rPr lang="ru-RU" sz="3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предполагает использование расширенных операторов в поисковой системе </a:t>
            </a:r>
            <a:r>
              <a:rPr lang="ru-RU" sz="3200" dirty="0" err="1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Google</a:t>
            </a:r>
            <a: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3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для </a:t>
            </a:r>
            <a: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поиска информации в индексированных частях интернета. </a:t>
            </a:r>
            <a:endParaRPr lang="ru-RU" sz="32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20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5800" y="308113"/>
            <a:ext cx="88905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Как долго будет актуально?</a:t>
            </a:r>
            <a:endParaRPr lang="ru-RU" sz="60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4177" y="1323776"/>
            <a:ext cx="109227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Некоторые </a:t>
            </a:r>
            <a:r>
              <a:rPr lang="ru-RU" sz="4400" dirty="0" err="1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дорки</a:t>
            </a:r>
            <a:r>
              <a:rPr lang="ru-RU" sz="44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отключены: </a:t>
            </a:r>
            <a:r>
              <a:rPr lang="ru-RU" sz="44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«</a:t>
            </a:r>
            <a:r>
              <a:rPr lang="ru-RU" sz="44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+» «</a:t>
            </a:r>
            <a:r>
              <a:rPr lang="en-US" sz="44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link</a:t>
            </a:r>
            <a:r>
              <a:rPr lang="ru-RU" sz="44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:» «</a:t>
            </a:r>
            <a:r>
              <a:rPr lang="en-US" sz="44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AND</a:t>
            </a:r>
            <a:r>
              <a:rPr lang="ru-RU" sz="44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» </a:t>
            </a:r>
          </a:p>
          <a:p>
            <a:endParaRPr lang="ru-RU" sz="4400" dirty="0">
              <a:solidFill>
                <a:srgbClr val="00B0F0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4177" y="2456354"/>
            <a:ext cx="95380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Много </a:t>
            </a:r>
            <a:r>
              <a:rPr lang="ru-RU" sz="44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статей… </a:t>
            </a:r>
            <a:r>
              <a:rPr lang="ru-RU" sz="44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мало </a:t>
            </a:r>
            <a:r>
              <a:rPr lang="ru-RU" sz="44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содержания.  </a:t>
            </a:r>
            <a:endParaRPr lang="ru-RU" sz="44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  <a:p>
            <a:endParaRPr lang="ru-RU" sz="4400" dirty="0">
              <a:solidFill>
                <a:srgbClr val="00B0F0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552" y="4737460"/>
            <a:ext cx="2827383" cy="212053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74435" y="4737463"/>
            <a:ext cx="2827383" cy="21205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287" y="3785989"/>
            <a:ext cx="35356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Ты в </a:t>
            </a:r>
            <a:r>
              <a:rPr lang="ru-RU" sz="28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нужную</a:t>
            </a: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папку отчет закинул?</a:t>
            </a:r>
            <a:endParaRPr lang="ru-RU" sz="2800" dirty="0">
              <a:solidFill>
                <a:srgbClr val="00B0F0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5968" y="3785989"/>
            <a:ext cx="34685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Да. (</a:t>
            </a:r>
            <a:r>
              <a:rPr lang="ru-RU" sz="2800" dirty="0" smtClean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Нет</a:t>
            </a: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, не помню, не понял вопрос)</a:t>
            </a:r>
            <a:endParaRPr lang="ru-RU" sz="2800" dirty="0">
              <a:solidFill>
                <a:srgbClr val="00B0F0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97056" y="3785989"/>
            <a:ext cx="40763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Вывод: </a:t>
            </a:r>
          </a:p>
          <a:p>
            <a:pPr algn="just"/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Пока живы поисковики, а человек совершает </a:t>
            </a:r>
            <a:r>
              <a:rPr lang="ru-RU" sz="2800" dirty="0" smtClean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ошибки</a:t>
            </a: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, </a:t>
            </a:r>
            <a:r>
              <a:rPr lang="ru-RU" sz="2800" dirty="0" err="1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дорки</a:t>
            </a: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будут актуальным и полезным инструментом</a:t>
            </a:r>
            <a:endParaRPr lang="ru-RU" sz="2800" dirty="0">
              <a:solidFill>
                <a:srgbClr val="00B0F0"/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913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85800" y="308113"/>
            <a:ext cx="71849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Зачем мне это нужно? </a:t>
            </a:r>
            <a:endParaRPr lang="ru-RU" sz="60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4177" y="1323776"/>
            <a:ext cx="9564189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–</a:t>
            </a:r>
            <a:r>
              <a:rPr lang="ru-RU" sz="36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  Методика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(предложенная в докладе)</a:t>
            </a:r>
            <a:r>
              <a:rPr lang="ru-RU" sz="36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походит не только для </a:t>
            </a:r>
            <a:r>
              <a:rPr lang="en-US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OSINT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-расследований;</a:t>
            </a:r>
            <a:endParaRPr lang="ru-RU" sz="3600" dirty="0" smtClean="0">
              <a:solidFill>
                <a:srgbClr val="59E9F2"/>
              </a:solidFill>
              <a:latin typeface="Bahnschrift SemiBold SemiConden" panose="020B0502040204020203" pitchFamily="34" charset="0"/>
            </a:endParaRPr>
          </a:p>
          <a:p>
            <a:r>
              <a:rPr lang="ru-RU" sz="36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–  Практика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ручного </a:t>
            </a:r>
            <a:r>
              <a:rPr lang="ru-RU" sz="36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поиска сделает из вас более информированного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человека;</a:t>
            </a:r>
          </a:p>
          <a:p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- Вы всегда сможете сделать </a:t>
            </a:r>
            <a:r>
              <a:rPr lang="ru-RU" sz="36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ссылку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на найденную вами информацию (инструменты могут взять ее </a:t>
            </a:r>
            <a:r>
              <a:rPr lang="ru-RU" sz="3600" dirty="0" smtClean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откуда угодно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);</a:t>
            </a:r>
          </a:p>
          <a:p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- Это бесплатно ;) </a:t>
            </a:r>
            <a:endParaRPr lang="ru-RU" sz="36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  <a:p>
            <a:endParaRPr lang="ru-RU" sz="4400" dirty="0">
              <a:solidFill>
                <a:srgbClr val="00B0F0"/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77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723172" y="3263032"/>
            <a:ext cx="16882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Google</a:t>
            </a:r>
            <a:endParaRPr lang="ru-RU" sz="44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592" y="1753590"/>
            <a:ext cx="1509444" cy="150944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5909" y="1585274"/>
            <a:ext cx="1846076" cy="18460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36256"/>
            <a:ext cx="58224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Чем вооружиться?</a:t>
            </a:r>
            <a:endParaRPr lang="ru-RU" sz="60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3547" y="3263032"/>
            <a:ext cx="17508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err="1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Yandex</a:t>
            </a:r>
            <a:endParaRPr lang="ru-RU" sz="44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36419" y="1967694"/>
            <a:ext cx="634660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Как подготовиться?</a:t>
            </a:r>
            <a:endParaRPr lang="ru-RU" sz="60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10" t="18794" r="28926" b="5630"/>
          <a:stretch/>
        </p:blipFill>
        <p:spPr>
          <a:xfrm>
            <a:off x="8300543" y="3153161"/>
            <a:ext cx="905435" cy="869576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10" t="18794" r="28926" b="5630"/>
          <a:stretch/>
        </p:blipFill>
        <p:spPr>
          <a:xfrm rot="2343292">
            <a:off x="8690687" y="3403218"/>
            <a:ext cx="905435" cy="869576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10" t="18794" r="28926" b="5630"/>
          <a:stretch/>
        </p:blipFill>
        <p:spPr>
          <a:xfrm rot="16601297">
            <a:off x="8452943" y="3712978"/>
            <a:ext cx="905435" cy="8695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58705" y="4060774"/>
            <a:ext cx="13837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Cookie</a:t>
            </a:r>
            <a:endParaRPr lang="ru-RU" sz="3600" dirty="0">
              <a:solidFill>
                <a:srgbClr val="59E9F2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726" b="1102"/>
          <a:stretch/>
        </p:blipFill>
        <p:spPr>
          <a:xfrm>
            <a:off x="8366962" y="4619131"/>
            <a:ext cx="1077396" cy="104648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988" y="3431348"/>
            <a:ext cx="1905182" cy="190518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322036" y="5245913"/>
            <a:ext cx="499367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 smtClean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В настройках</a:t>
            </a:r>
          </a:p>
          <a:p>
            <a:pPr algn="ctr"/>
            <a:r>
              <a:rPr lang="ru-RU" sz="3200" dirty="0" smtClean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Поиска указать нужный язык</a:t>
            </a:r>
            <a:endParaRPr lang="ru-RU" sz="3200" dirty="0">
              <a:solidFill>
                <a:srgbClr val="FC0253"/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7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75640" y="590406"/>
            <a:ext cx="56685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</a:t>
            </a:r>
            <a:r>
              <a:rPr lang="ru-RU" sz="5000" dirty="0" smtClean="0">
                <a:solidFill>
                  <a:srgbClr val="59E9F2"/>
                </a:solidFill>
              </a:rPr>
              <a:t>"</a:t>
            </a:r>
            <a:r>
              <a:rPr lang="ru-RU" sz="5000" dirty="0" smtClean="0"/>
              <a:t> </a:t>
            </a:r>
            <a:r>
              <a:rPr lang="ru-RU" sz="5000" dirty="0" smtClean="0">
                <a:solidFill>
                  <a:srgbClr val="59E9F2"/>
                </a:solidFill>
              </a:rPr>
              <a:t>"</a:t>
            </a:r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–</a:t>
            </a:r>
            <a:r>
              <a:rPr lang="ru-RU" sz="6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Ищет точную цитату.</a:t>
            </a:r>
            <a:endParaRPr lang="ru-RU" sz="60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204" y="454809"/>
            <a:ext cx="801450" cy="80145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654" y="365441"/>
            <a:ext cx="980186" cy="9801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5640" y="1656984"/>
            <a:ext cx="10998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Описание: хорош при поиске точной информации, когда данные или характеристика объекта интереса полностью установлены. 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3709812" y="3459775"/>
            <a:ext cx="342250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Минусы: </a:t>
            </a:r>
            <a:r>
              <a:rPr lang="ru-RU" sz="3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если </a:t>
            </a:r>
            <a: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информация не уникальна, </a:t>
            </a:r>
            <a:r>
              <a:rPr lang="ru-RU" sz="3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объем </a:t>
            </a:r>
            <a: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аналитики </a:t>
            </a:r>
            <a:r>
              <a:rPr lang="ru-RU" sz="3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возрастает.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75640" y="3462225"/>
            <a:ext cx="323596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Плюсы: </a:t>
            </a:r>
            <a:r>
              <a:rPr lang="ru-RU" sz="3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приносит обратно много релевантной информации.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7132320" y="3459775"/>
            <a:ext cx="342250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Точный синтаксис:</a:t>
            </a:r>
          </a:p>
          <a:p>
            <a:r>
              <a:rPr lang="ru-RU" sz="3200" dirty="0">
                <a:solidFill>
                  <a:srgbClr val="59E9F2"/>
                </a:solidFill>
              </a:rPr>
              <a:t>"</a:t>
            </a:r>
            <a:r>
              <a:rPr lang="ru-RU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запрос</a:t>
            </a:r>
            <a:r>
              <a:rPr lang="ru-RU" sz="3200" dirty="0">
                <a:solidFill>
                  <a:srgbClr val="59E9F2"/>
                </a:solidFill>
              </a:rPr>
              <a:t>"</a:t>
            </a:r>
            <a:r>
              <a:rPr lang="ru-RU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 </a:t>
            </a:r>
          </a:p>
          <a:p>
            <a:endParaRPr lang="ru-RU" sz="3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SemiConden" panose="020B0502040204020203" pitchFamily="34" charset="0"/>
            </a:endParaRPr>
          </a:p>
          <a:p>
            <a:endParaRPr lang="ru-RU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SemiConden" panose="020B0502040204020203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7132320" y="4815435"/>
            <a:ext cx="3921266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0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before: </a:t>
            </a:r>
            <a:r>
              <a:rPr lang="en-US" sz="50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/</a:t>
            </a:r>
            <a:r>
              <a:rPr lang="en-US" sz="50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 after: </a:t>
            </a:r>
            <a:endParaRPr lang="ru-RU" sz="5000" dirty="0">
              <a:solidFill>
                <a:srgbClr val="59E9F2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7132320" y="5687184"/>
            <a:ext cx="44759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  <a:r>
              <a:rPr lang="en-US" sz="28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"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TOS Update</a:t>
            </a:r>
            <a:r>
              <a:rPr lang="en-US" sz="28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"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after:</a:t>
            </a:r>
            <a:r>
              <a:rPr lang="en-US" sz="2800" u="sng" dirty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2022-12-01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 </a:t>
            </a:r>
            <a:endParaRPr lang="ru-RU" sz="28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82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75640" y="590406"/>
            <a:ext cx="344357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</a:t>
            </a:r>
            <a:r>
              <a:rPr lang="ru-RU" sz="5000" dirty="0" smtClean="0">
                <a:solidFill>
                  <a:srgbClr val="59E9F2"/>
                </a:solidFill>
              </a:rPr>
              <a:t>"</a:t>
            </a:r>
            <a:r>
              <a:rPr lang="ru-RU" sz="5000" dirty="0" smtClean="0"/>
              <a:t> </a:t>
            </a:r>
            <a:r>
              <a:rPr lang="ru-RU" sz="5000" dirty="0" smtClean="0">
                <a:solidFill>
                  <a:srgbClr val="59E9F2"/>
                </a:solidFill>
              </a:rPr>
              <a:t>"</a:t>
            </a:r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–Примеры .</a:t>
            </a:r>
            <a:endParaRPr lang="ru-RU" sz="60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136" y="2303955"/>
            <a:ext cx="4572753" cy="3565621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834" y="2303955"/>
            <a:ext cx="3649395" cy="356562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1193" y="1534514"/>
            <a:ext cx="47986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 smtClean="0">
                <a:solidFill>
                  <a:srgbClr val="59E9F2"/>
                </a:solidFill>
              </a:rPr>
              <a:t>"</a:t>
            </a:r>
            <a:r>
              <a:rPr lang="ru-RU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Бельцев</a:t>
            </a:r>
            <a:r>
              <a:rPr lang="ru-RU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Сергей Николаевич</a:t>
            </a:r>
            <a:r>
              <a:rPr lang="ru-RU" sz="4400" dirty="0" smtClean="0">
                <a:solidFill>
                  <a:srgbClr val="59E9F2"/>
                </a:solidFill>
              </a:rPr>
              <a:t>"</a:t>
            </a:r>
            <a:endParaRPr lang="ru-RU" sz="48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69285" y="1488347"/>
            <a:ext cx="483645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 smtClean="0">
                <a:solidFill>
                  <a:srgbClr val="59E9F2"/>
                </a:solidFill>
              </a:rPr>
              <a:t> </a:t>
            </a:r>
            <a:r>
              <a:rPr lang="ru-RU" sz="4400" dirty="0" smtClean="0">
                <a:solidFill>
                  <a:srgbClr val="59E9F2"/>
                </a:solidFill>
              </a:rPr>
              <a:t>"</a:t>
            </a: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report</a:t>
            </a:r>
            <a:r>
              <a:rPr lang="ru-RU" sz="2800" dirty="0" smtClean="0">
                <a:solidFill>
                  <a:srgbClr val="59E9F2"/>
                </a:solidFill>
              </a:rPr>
              <a:t> </a:t>
            </a:r>
            <a:r>
              <a:rPr lang="ru-RU" sz="4400" dirty="0" smtClean="0">
                <a:solidFill>
                  <a:srgbClr val="59E9F2"/>
                </a:solidFill>
              </a:rPr>
              <a:t>" "</a:t>
            </a:r>
            <a:r>
              <a:rPr lang="ru-RU" sz="2800" dirty="0" smtClean="0">
                <a:solidFill>
                  <a:srgbClr val="59E9F2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Russia</a:t>
            </a:r>
            <a:r>
              <a:rPr lang="ru-RU" sz="2800" dirty="0" smtClean="0">
                <a:solidFill>
                  <a:srgbClr val="59E9F2"/>
                </a:solidFill>
              </a:rPr>
              <a:t> </a:t>
            </a:r>
            <a:r>
              <a:rPr lang="ru-RU" sz="4400" dirty="0">
                <a:solidFill>
                  <a:srgbClr val="59E9F2"/>
                </a:solidFill>
              </a:rPr>
              <a:t>" "</a:t>
            </a:r>
            <a:r>
              <a:rPr lang="ru-RU" sz="2800" dirty="0">
                <a:solidFill>
                  <a:srgbClr val="59E9F2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2023</a:t>
            </a:r>
            <a:r>
              <a:rPr lang="ru-RU" sz="4400" dirty="0" smtClean="0">
                <a:solidFill>
                  <a:srgbClr val="59E9F2"/>
                </a:solidFill>
              </a:rPr>
              <a:t>"</a:t>
            </a:r>
            <a:endParaRPr lang="ru-RU" sz="44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379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75640" y="590406"/>
            <a:ext cx="776206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 </a:t>
            </a:r>
            <a:r>
              <a:rPr lang="ru-RU" sz="50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*</a:t>
            </a:r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)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– Оставляет часть запроса пустым.</a:t>
            </a:r>
            <a:endParaRPr lang="ru-RU" sz="60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5640" y="1656984"/>
            <a:ext cx="10998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Описание: необходим для уточнения неизвестной информации. </a:t>
            </a:r>
            <a:r>
              <a:rPr lang="ru-R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(где </a:t>
            </a:r>
            <a:r>
              <a:rPr lang="ru-RU" sz="3600" dirty="0">
                <a:solidFill>
                  <a:srgbClr val="59E9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*</a:t>
            </a:r>
            <a:r>
              <a:rPr lang="ru-R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 неизвестный или вариативный элемент)</a:t>
            </a:r>
          </a:p>
          <a:p>
            <a:endParaRPr lang="ru-RU" sz="3600" dirty="0" smtClean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640144" y="3334981"/>
            <a:ext cx="342250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Минусы: </a:t>
            </a:r>
            <a: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Может </a:t>
            </a:r>
          </a:p>
          <a:p>
            <a: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направить расследование не в то русло. </a:t>
            </a:r>
            <a:endParaRPr lang="ru-RU" sz="32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75640" y="3334981"/>
            <a:ext cx="303417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Плюсы: </a:t>
            </a:r>
            <a: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гипотетически уточняет информацию.</a:t>
            </a:r>
            <a:endParaRPr lang="ru-RU" sz="32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062652" y="3334981"/>
            <a:ext cx="342250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Точный синтаксис</a:t>
            </a:r>
            <a:r>
              <a:rPr lang="ru-RU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:</a:t>
            </a:r>
            <a:endParaRPr lang="en-US" sz="3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SemiConden" panose="020B0502040204020203" pitchFamily="34" charset="0"/>
            </a:endParaRPr>
          </a:p>
          <a:p>
            <a:r>
              <a:rPr lang="ru-RU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Запрос </a:t>
            </a:r>
            <a:r>
              <a:rPr lang="ru-RU" sz="32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*</a:t>
            </a:r>
            <a:endParaRPr lang="ru-RU" sz="3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SemiConden" panose="020B0502040204020203" pitchFamily="34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204" y="454809"/>
            <a:ext cx="801450" cy="80145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654" y="365441"/>
            <a:ext cx="980186" cy="9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467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75640" y="590406"/>
            <a:ext cx="322075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0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</a:t>
            </a:r>
            <a:r>
              <a:rPr lang="en-US" sz="50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50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*</a:t>
            </a:r>
            <a:r>
              <a:rPr lang="en-US" sz="50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50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–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Примеры:</a:t>
            </a:r>
            <a:endParaRPr lang="ru-RU" sz="60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14624" y="1534514"/>
            <a:ext cx="41979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 smtClean="0">
                <a:solidFill>
                  <a:srgbClr val="59E9F2"/>
                </a:solidFill>
              </a:rPr>
              <a:t>"</a:t>
            </a: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Магомедов </a:t>
            </a:r>
            <a:r>
              <a:rPr lang="ru-RU" sz="2800" dirty="0">
                <a:solidFill>
                  <a:srgbClr val="59E9F2"/>
                </a:solidFill>
              </a:rPr>
              <a:t>*</a:t>
            </a: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Гаджиевич</a:t>
            </a:r>
            <a:r>
              <a:rPr lang="ru-RU" sz="4400" dirty="0" smtClean="0">
                <a:solidFill>
                  <a:srgbClr val="59E9F2"/>
                </a:solidFill>
              </a:rPr>
              <a:t>"</a:t>
            </a:r>
            <a:endParaRPr lang="ru-RU" sz="48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60" y="2303955"/>
            <a:ext cx="3954430" cy="393202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019" y="2303955"/>
            <a:ext cx="4523348" cy="3932022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6040878" y="1534514"/>
            <a:ext cx="496963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dirty="0" smtClean="0">
                <a:solidFill>
                  <a:srgbClr val="59E9F2"/>
                </a:solidFill>
              </a:rPr>
              <a:t>"</a:t>
            </a: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ФИО</a:t>
            </a:r>
            <a:r>
              <a:rPr lang="ru-RU" sz="4400" dirty="0" smtClean="0">
                <a:solidFill>
                  <a:srgbClr val="59E9F2"/>
                </a:solidFill>
              </a:rPr>
              <a:t>" </a:t>
            </a:r>
            <a:r>
              <a:rPr lang="ru-RU" sz="4400" dirty="0">
                <a:solidFill>
                  <a:srgbClr val="59E9F2"/>
                </a:solidFill>
              </a:rPr>
              <a:t>"</a:t>
            </a:r>
            <a:r>
              <a:rPr lang="ru-RU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29.11.</a:t>
            </a:r>
            <a:r>
              <a:rPr lang="ru-RU" sz="4400" dirty="0">
                <a:solidFill>
                  <a:srgbClr val="59E9F2"/>
                </a:solidFill>
              </a:rPr>
              <a:t>*" </a:t>
            </a:r>
            <a:r>
              <a:rPr lang="ru-RU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год рождения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264019" y="5468983"/>
            <a:ext cx="4523348" cy="766994"/>
          </a:xfrm>
          <a:prstGeom prst="rect">
            <a:avLst/>
          </a:prstGeom>
          <a:noFill/>
          <a:ln w="38100">
            <a:solidFill>
              <a:srgbClr val="FC02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66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75640" y="590406"/>
            <a:ext cx="1022106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</a:t>
            </a:r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50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- </a:t>
            </a:r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– Исключает из выдачи ненужное содержимое  </a:t>
            </a:r>
            <a:endParaRPr lang="ru-RU" sz="36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5639" y="1674610"/>
            <a:ext cx="1099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Описание: </a:t>
            </a:r>
            <a:r>
              <a:rPr lang="en-US" sz="36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n</a:t>
            </a:r>
            <a:r>
              <a:rPr lang="en-US" sz="3600" dirty="0" err="1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uff</a:t>
            </a:r>
            <a:r>
              <a:rPr lang="en-US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said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.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3181491" y="2543371"/>
            <a:ext cx="342250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Минусы</a:t>
            </a:r>
            <a:r>
              <a:rPr lang="ru-RU" sz="3200" dirty="0" smtClean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: </a:t>
            </a:r>
            <a: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зависит от применения. </a:t>
            </a:r>
            <a:endParaRPr lang="ru-RU" sz="32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75639" y="2543371"/>
            <a:ext cx="303417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Плюсы: </a:t>
            </a:r>
            <a: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фильтрует выдачу, чем повышает точность </a:t>
            </a:r>
            <a:endParaRPr lang="ru-RU" sz="32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132319" y="2543371"/>
            <a:ext cx="342250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Точный синтаксис</a:t>
            </a:r>
            <a:r>
              <a:rPr lang="ru-RU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:</a:t>
            </a:r>
            <a:endParaRPr lang="en-US" sz="3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SemiConden" panose="020B0502040204020203" pitchFamily="34" charset="0"/>
            </a:endParaRPr>
          </a:p>
          <a:p>
            <a:r>
              <a:rPr lang="ru-RU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Запрос </a:t>
            </a:r>
            <a:r>
              <a:rPr lang="ru-RU" sz="3200" dirty="0" smtClean="0">
                <a:solidFill>
                  <a:srgbClr val="59E9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– </a:t>
            </a:r>
            <a:r>
              <a:rPr lang="ru-RU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элемент</a:t>
            </a:r>
            <a:endParaRPr lang="ru-RU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SemiConden" panose="020B0502040204020203" pitchFamily="34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3022" y="454809"/>
            <a:ext cx="801450" cy="80145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654" y="1184517"/>
            <a:ext cx="980186" cy="9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821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75640" y="590406"/>
            <a:ext cx="335540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</a:t>
            </a:r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50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- </a:t>
            </a:r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– Примеры.</a:t>
            </a:r>
            <a:endParaRPr lang="ru-RU" sz="36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15080" y="1674610"/>
            <a:ext cx="3469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Примеры:</a:t>
            </a:r>
            <a:r>
              <a:rPr lang="en-US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3600" dirty="0" smtClean="0">
                <a:solidFill>
                  <a:srgbClr val="59E9F2"/>
                </a:solidFill>
              </a:rPr>
              <a:t>"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ФИО</a:t>
            </a:r>
            <a:r>
              <a:rPr lang="ru-RU" sz="3600" dirty="0" smtClean="0">
                <a:solidFill>
                  <a:srgbClr val="59E9F2"/>
                </a:solidFill>
              </a:rPr>
              <a:t>"</a:t>
            </a:r>
            <a:endParaRPr lang="ru-RU" sz="3600" dirty="0" smtClean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3022" y="454809"/>
            <a:ext cx="801450" cy="80145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42" r="15564"/>
          <a:stretch/>
        </p:blipFill>
        <p:spPr>
          <a:xfrm>
            <a:off x="2116183" y="2320941"/>
            <a:ext cx="2847704" cy="380687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107" y="4580709"/>
            <a:ext cx="3927113" cy="140847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28622">
            <a:off x="3582156" y="3116684"/>
            <a:ext cx="816531" cy="45929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987" y="2733868"/>
            <a:ext cx="3924949" cy="27669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11973" y="1841537"/>
            <a:ext cx="5171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Примеры:</a:t>
            </a:r>
            <a:r>
              <a:rPr lang="en-US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3600" dirty="0" smtClean="0">
                <a:solidFill>
                  <a:srgbClr val="59E9F2"/>
                </a:solidFill>
              </a:rPr>
              <a:t>"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ФИО</a:t>
            </a:r>
            <a:r>
              <a:rPr lang="ru-RU" sz="3600" dirty="0" smtClean="0">
                <a:solidFill>
                  <a:srgbClr val="59E9F2"/>
                </a:solidFill>
              </a:rPr>
              <a:t>" - </a:t>
            </a:r>
            <a:r>
              <a:rPr lang="ru-RU" sz="3600" dirty="0" err="1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диджей</a:t>
            </a:r>
            <a:endParaRPr lang="ru-RU" sz="36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654" y="1184517"/>
            <a:ext cx="980186" cy="9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874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75640" y="590406"/>
            <a:ext cx="318709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 </a:t>
            </a:r>
            <a:r>
              <a:rPr lang="en-US" sz="50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| |</a:t>
            </a:r>
            <a:r>
              <a:rPr lang="en-US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/ </a:t>
            </a:r>
            <a:r>
              <a:rPr lang="en-US" sz="3600" dirty="0" smtClean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OR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, </a:t>
            </a:r>
            <a:r>
              <a:rPr lang="ru-RU" sz="50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( )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</a:t>
            </a:r>
            <a:r>
              <a:rPr lang="en-US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endParaRPr lang="ru-RU" sz="50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5640" y="1656984"/>
            <a:ext cx="10998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Описание: </a:t>
            </a:r>
            <a:r>
              <a:rPr lang="ru-RU" sz="36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д</a:t>
            </a:r>
            <a:r>
              <a:rPr lang="ru-RU" sz="3600" dirty="0" err="1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орки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для составления сложных многоэлементных запросов. Понять в полной мере их можно только попробовав на практике. </a:t>
            </a:r>
            <a:endParaRPr lang="ru-RU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SemiConden" panose="020B0502040204020203" pitchFamily="34" charset="0"/>
            </a:endParaRPr>
          </a:p>
          <a:p>
            <a:endParaRPr lang="ru-RU" sz="3600" dirty="0" smtClean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204" y="454809"/>
            <a:ext cx="801450" cy="80145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654" y="365441"/>
            <a:ext cx="980186" cy="9801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4532" y="3345528"/>
            <a:ext cx="969848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sz="50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| |</a:t>
            </a:r>
            <a:r>
              <a:rPr lang="en-US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/ </a:t>
            </a:r>
            <a:r>
              <a:rPr lang="en-US" sz="3600" dirty="0" smtClean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OR</a:t>
            </a:r>
            <a:r>
              <a:rPr lang="ru-RU" sz="36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– или. Принеси мне или, это или это или… </a:t>
            </a:r>
            <a:endParaRPr lang="ru-RU" sz="50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5640" y="4009622"/>
            <a:ext cx="1002870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36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( )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– устанавливает систему и порядок  применения </a:t>
            </a:r>
            <a:endParaRPr lang="ru-RU" sz="50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940931" y="4859400"/>
            <a:ext cx="92720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Ермолов </a:t>
            </a:r>
            <a:r>
              <a:rPr lang="ru-RU" sz="36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(</a:t>
            </a:r>
            <a:r>
              <a:rPr lang="ru-RU" sz="36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учредитель </a:t>
            </a:r>
            <a:r>
              <a:rPr lang="ru-RU" sz="3600" dirty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OR</a:t>
            </a:r>
            <a:r>
              <a:rPr lang="ru-RU" sz="36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генеральный директор</a:t>
            </a:r>
            <a:r>
              <a:rPr lang="ru-RU" sz="36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92451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75640" y="590406"/>
            <a:ext cx="11516294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</a:t>
            </a:r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sz="5000" dirty="0" err="1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filetype</a:t>
            </a:r>
            <a:r>
              <a:rPr lang="ru-RU" sz="50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 </a:t>
            </a:r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– Ищет файл определенного </a:t>
            </a:r>
          </a:p>
          <a:p>
            <a:r>
              <a:rPr lang="ru-RU" sz="36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	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		   расширения по названию или содержимому</a:t>
            </a:r>
            <a:endParaRPr lang="ru-RU" sz="36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5640" y="2561224"/>
            <a:ext cx="1099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Описание: один из самых результативных запросов.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3709811" y="3207555"/>
            <a:ext cx="342250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Минусы</a:t>
            </a:r>
            <a:r>
              <a:rPr lang="ru-RU" sz="3200" dirty="0" smtClean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: </a:t>
            </a:r>
            <a: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требует точности, удачи и терпения </a:t>
            </a:r>
          </a:p>
          <a:p>
            <a: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(результат может </a:t>
            </a:r>
            <a:r>
              <a:rPr lang="ru-RU" sz="3200" dirty="0" smtClean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отсутствовать</a:t>
            </a:r>
            <a: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).</a:t>
            </a:r>
            <a:endParaRPr lang="ru-RU" sz="32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75639" y="3189703"/>
            <a:ext cx="303417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Плюсы: </a:t>
            </a:r>
            <a: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содержит большое количество релевантной информации</a:t>
            </a:r>
            <a:endParaRPr lang="ru-RU" sz="32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132319" y="3228358"/>
            <a:ext cx="342250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Точный синтаксис</a:t>
            </a:r>
            <a:r>
              <a:rPr lang="ru-RU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:</a:t>
            </a:r>
            <a:endParaRPr lang="en-US" sz="3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SemiConden" panose="020B0502040204020203" pitchFamily="34" charset="0"/>
            </a:endParaRPr>
          </a:p>
          <a:p>
            <a:r>
              <a:rPr lang="en-US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filetype</a:t>
            </a:r>
            <a:r>
              <a:rPr lang="ru-RU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:</a:t>
            </a:r>
          </a:p>
          <a:p>
            <a:r>
              <a:rPr lang="en-US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ext</a:t>
            </a:r>
            <a:r>
              <a:rPr lang="ru-RU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:</a:t>
            </a:r>
          </a:p>
          <a:p>
            <a:r>
              <a:rPr 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mime</a:t>
            </a:r>
            <a:r>
              <a:rPr lang="ru-RU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:</a:t>
            </a:r>
            <a:endParaRPr lang="ru-RU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SemiConden" panose="020B0502040204020203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952496" y="1298292"/>
            <a:ext cx="248045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 </a:t>
            </a:r>
            <a:r>
              <a:rPr lang="en-US" sz="50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mime</a:t>
            </a:r>
            <a:r>
              <a:rPr lang="ru-RU" sz="50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 </a:t>
            </a:r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	</a:t>
            </a:r>
            <a:r>
              <a:rPr lang="en-US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endParaRPr lang="ru-RU" sz="50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204" y="454809"/>
            <a:ext cx="801450" cy="80145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654" y="365441"/>
            <a:ext cx="980186" cy="9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469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75640" y="590406"/>
            <a:ext cx="11516294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</a:t>
            </a:r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sz="5000" dirty="0" err="1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filetype</a:t>
            </a:r>
            <a:r>
              <a:rPr lang="ru-RU" sz="50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 </a:t>
            </a:r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– Ищет файл определенного </a:t>
            </a:r>
          </a:p>
          <a:p>
            <a:r>
              <a:rPr lang="ru-RU" sz="36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	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		   расширения по названию или содержимому</a:t>
            </a:r>
            <a:endParaRPr lang="ru-RU" sz="36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952496" y="1298292"/>
            <a:ext cx="248045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 </a:t>
            </a:r>
            <a:r>
              <a:rPr lang="en-US" sz="50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mime</a:t>
            </a:r>
            <a:r>
              <a:rPr lang="ru-RU" sz="50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 </a:t>
            </a:r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	</a:t>
            </a:r>
            <a:r>
              <a:rPr lang="en-US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endParaRPr lang="ru-RU" sz="50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204" y="454809"/>
            <a:ext cx="801450" cy="80145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654" y="365441"/>
            <a:ext cx="980186" cy="980186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2868387" y="2231143"/>
            <a:ext cx="5605304" cy="4241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sz="1400" dirty="0">
                <a:solidFill>
                  <a:srgbClr val="202124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(.</a:t>
            </a:r>
            <a:r>
              <a:rPr lang="en-US" sz="28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pdf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 (.</a:t>
            </a:r>
            <a:r>
              <a:rPr lang="en-US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ps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 (.</a:t>
            </a:r>
            <a:r>
              <a:rPr lang="en-US" sz="2800" dirty="0" err="1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kml</a:t>
            </a:r>
            <a:r>
              <a:rPr lang="en-US" sz="28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(z)</a:t>
            </a: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</a:t>
            </a:r>
            <a:r>
              <a:rPr lang="ru-RU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/>
            </a:r>
            <a:br>
              <a:rPr lang="ru-RU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</a:b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(.</a:t>
            </a:r>
            <a:r>
              <a:rPr lang="en-US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gpx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)(.</a:t>
            </a:r>
            <a:r>
              <a:rPr lang="en-US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hwp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)(.</a:t>
            </a:r>
            <a:r>
              <a:rPr lang="en-US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htm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, .html, other file extensions</a:t>
            </a: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</a:t>
            </a: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/>
            </a:r>
            <a:b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</a:b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(.</a:t>
            </a:r>
            <a:r>
              <a:rPr lang="en-US" sz="2800" dirty="0" err="1" smtClean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xls</a:t>
            </a:r>
            <a:r>
              <a:rPr lang="en-US" sz="2800" dirty="0" smtClean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(x)</a:t>
            </a: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)(.</a:t>
            </a:r>
            <a:r>
              <a:rPr lang="en-US" sz="2800" dirty="0" err="1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ppt</a:t>
            </a:r>
            <a:r>
              <a:rPr lang="en-US" sz="28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(x)</a:t>
            </a: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</a:t>
            </a: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/>
            </a:r>
            <a:b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</a:b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(.</a:t>
            </a:r>
            <a:r>
              <a:rPr lang="en-US" sz="2800" dirty="0" smtClean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doc(x)</a:t>
            </a: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(.</a:t>
            </a:r>
            <a:r>
              <a:rPr lang="en-US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odp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)(.</a:t>
            </a:r>
            <a:r>
              <a:rPr lang="en-US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ods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)(.</a:t>
            </a:r>
            <a:r>
              <a:rPr lang="en-US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odt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)(.</a:t>
            </a:r>
            <a:r>
              <a:rPr lang="en-US" sz="28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rtf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)(.</a:t>
            </a:r>
            <a:r>
              <a:rPr lang="en-US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svg</a:t>
            </a: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</a:t>
            </a: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/>
            </a:r>
            <a:b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</a:b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(.</a:t>
            </a:r>
            <a:r>
              <a:rPr lang="en-US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tex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)(.</a:t>
            </a:r>
            <a:r>
              <a:rPr lang="en-US" sz="28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txt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, .text, other file extensions), (.</a:t>
            </a: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bas</a:t>
            </a: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 </a:t>
            </a: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(.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c, .cc, .</a:t>
            </a:r>
            <a:r>
              <a:rPr lang="en-US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cpp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, .cxx, .h, .</a:t>
            </a:r>
            <a:r>
              <a:rPr lang="en-US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hpp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)(.</a:t>
            </a:r>
            <a:r>
              <a:rPr lang="en-US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cs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)(.java)(</a:t>
            </a:r>
            <a:r>
              <a:rPr lang="en-US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pl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)(.</a:t>
            </a:r>
            <a:r>
              <a:rPr lang="en-US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py</a:t>
            </a: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</a:t>
            </a:r>
            <a:r>
              <a:rPr lang="ru-RU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/>
            </a:r>
            <a:br>
              <a:rPr lang="ru-RU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</a:b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(.</a:t>
            </a:r>
            <a:r>
              <a:rPr lang="en-US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wml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, .</a:t>
            </a:r>
            <a:r>
              <a:rPr lang="en-US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wap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</a:t>
            </a:r>
            <a:r>
              <a:rPr lang="ru-RU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(.</a:t>
            </a:r>
            <a:r>
              <a:rPr lang="ru-RU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xml</a:t>
            </a:r>
            <a:r>
              <a:rPr lang="ru-RU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8731168" y="2206233"/>
            <a:ext cx="1151277" cy="44012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.</a:t>
            </a:r>
            <a:r>
              <a:rPr lang="en-US" sz="28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pdf</a:t>
            </a: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/>
            </a:r>
            <a:b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</a:b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.</a:t>
            </a:r>
            <a:r>
              <a:rPr lang="en-US" sz="2800" dirty="0" err="1" smtClean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xls</a:t>
            </a:r>
            <a:r>
              <a:rPr lang="ru-RU" sz="2800" dirty="0" smtClean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(</a:t>
            </a:r>
            <a:r>
              <a:rPr lang="en-US" sz="2800" dirty="0" smtClean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x)</a:t>
            </a: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/>
            </a:r>
            <a:b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</a:b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.</a:t>
            </a:r>
            <a:r>
              <a:rPr lang="en-US" sz="2800" dirty="0" err="1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ods</a:t>
            </a: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/>
            </a:r>
            <a:b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</a:b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.</a:t>
            </a:r>
            <a:r>
              <a:rPr lang="en-US" sz="28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rtf</a:t>
            </a: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/>
            </a:r>
            <a:b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</a:b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.</a:t>
            </a:r>
            <a:r>
              <a:rPr lang="en-US" sz="2800" dirty="0" err="1" smtClean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ppt</a:t>
            </a:r>
            <a:r>
              <a:rPr lang="ru-RU" sz="2800" dirty="0" smtClean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(</a:t>
            </a:r>
            <a:r>
              <a:rPr lang="en-US" sz="2800" dirty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x)</a:t>
            </a: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/>
            </a:r>
            <a:b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</a:b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.</a:t>
            </a:r>
            <a:r>
              <a:rPr lang="en-US" sz="2800" dirty="0" err="1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odp</a:t>
            </a: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/>
            </a:r>
            <a:b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</a:b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.</a:t>
            </a:r>
            <a:r>
              <a:rPr lang="en-US" sz="2800" dirty="0" err="1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swf</a:t>
            </a: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/>
            </a:r>
            <a:b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</a:b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.</a:t>
            </a:r>
            <a:r>
              <a:rPr lang="en-US" sz="2800" dirty="0" err="1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odt</a:t>
            </a: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/>
            </a:r>
            <a:b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</a:b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.</a:t>
            </a:r>
            <a:r>
              <a:rPr lang="en-US" sz="2800" dirty="0" err="1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odg</a:t>
            </a: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/>
            </a:r>
            <a:b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</a:b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.</a:t>
            </a:r>
            <a:r>
              <a:rPr lang="en-US" sz="28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doc(x)</a:t>
            </a:r>
            <a:endParaRPr lang="ru-RU" sz="2800" dirty="0">
              <a:solidFill>
                <a:srgbClr val="59E9F2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937" y="2128058"/>
            <a:ext cx="801450" cy="80145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585" y="2038690"/>
            <a:ext cx="980186" cy="9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8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75640" y="590406"/>
            <a:ext cx="50722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 </a:t>
            </a:r>
            <a:r>
              <a:rPr lang="en-US" sz="5000" dirty="0" err="1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filetype</a:t>
            </a:r>
            <a:r>
              <a:rPr lang="ru-RU" sz="50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 </a:t>
            </a:r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–</a:t>
            </a:r>
            <a:r>
              <a:rPr lang="en-US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Примеры.</a:t>
            </a:r>
            <a:endParaRPr lang="ru-RU" sz="60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13606" y="1606247"/>
            <a:ext cx="542808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rgbClr val="59E9F2"/>
                </a:solidFill>
              </a:rPr>
              <a:t>"</a:t>
            </a: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client@indigo-net.com</a:t>
            </a:r>
            <a:r>
              <a:rPr lang="ru-RU" sz="4400" dirty="0" smtClean="0">
                <a:solidFill>
                  <a:srgbClr val="59E9F2"/>
                </a:solidFill>
              </a:rPr>
              <a:t>"</a:t>
            </a: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28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filetype:</a:t>
            </a:r>
            <a:r>
              <a:rPr lang="ru-RU" sz="2800" dirty="0" err="1">
                <a:solidFill>
                  <a:srgbClr val="FC0253"/>
                </a:solidFill>
                <a:latin typeface="Bahnschrift SemiBold SemiConden" panose="020B0502040204020203" pitchFamily="34" charset="0"/>
              </a:rPr>
              <a:t>pdf</a:t>
            </a:r>
            <a:endParaRPr lang="ru-RU" sz="2800" dirty="0">
              <a:solidFill>
                <a:srgbClr val="FC0253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433" y="2359147"/>
            <a:ext cx="3938436" cy="392188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3"/>
          <a:srcRect r="12417"/>
          <a:stretch/>
        </p:blipFill>
        <p:spPr>
          <a:xfrm>
            <a:off x="5925795" y="2432398"/>
            <a:ext cx="5773614" cy="3848637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5841695" y="1818513"/>
            <a:ext cx="59218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filetype:</a:t>
            </a:r>
            <a:r>
              <a:rPr lang="ru-RU" sz="2800" dirty="0" err="1">
                <a:solidFill>
                  <a:srgbClr val="FC0253"/>
                </a:solidFill>
                <a:latin typeface="Bahnschrift SemiBold SemiConden" panose="020B0502040204020203" pitchFamily="34" charset="0"/>
              </a:rPr>
              <a:t>pptx</a:t>
            </a:r>
            <a:r>
              <a:rPr lang="ru-RU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28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|</a:t>
            </a:r>
            <a:r>
              <a:rPr lang="ru-RU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28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filetype:</a:t>
            </a:r>
            <a:r>
              <a:rPr lang="ru-RU" sz="2800" dirty="0" err="1">
                <a:solidFill>
                  <a:srgbClr val="FC0253"/>
                </a:solidFill>
                <a:latin typeface="Bahnschrift SemiBold SemiConden" panose="020B0502040204020203" pitchFamily="34" charset="0"/>
              </a:rPr>
              <a:t>pdf</a:t>
            </a:r>
            <a:r>
              <a:rPr lang="ru-RU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2800" dirty="0" smtClean="0">
                <a:solidFill>
                  <a:srgbClr val="59E9F2"/>
                </a:solidFill>
              </a:rPr>
              <a:t>"</a:t>
            </a: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презентация</a:t>
            </a:r>
            <a:r>
              <a:rPr lang="ru-RU" sz="2800" dirty="0" smtClean="0">
                <a:solidFill>
                  <a:srgbClr val="59E9F2"/>
                </a:solidFill>
              </a:rPr>
              <a:t>"</a:t>
            </a:r>
            <a:endParaRPr lang="ru-RU" sz="28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204" y="454809"/>
            <a:ext cx="801450" cy="80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903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75640" y="590406"/>
            <a:ext cx="7667484" cy="19697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</a:t>
            </a:r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sz="50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site</a:t>
            </a:r>
            <a:r>
              <a:rPr lang="ru-RU" sz="50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 </a:t>
            </a:r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– Ищет содержимое только по</a:t>
            </a:r>
            <a:b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</a:b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		   указанному сайту</a:t>
            </a:r>
          </a:p>
          <a:p>
            <a:endParaRPr lang="ru-RU" sz="36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5639" y="1924441"/>
            <a:ext cx="1099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Описание: пригоден для потрошения содержимого сайтов, если нужная вам информация собрана в одном месте.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3709811" y="3189703"/>
            <a:ext cx="342250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Минусы</a:t>
            </a:r>
            <a:r>
              <a:rPr lang="ru-RU" sz="3200" dirty="0" smtClean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: </a:t>
            </a:r>
            <a: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страница может быть проиндексирована, </a:t>
            </a:r>
            <a:r>
              <a:rPr lang="ru-RU" sz="3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но больше не </a:t>
            </a:r>
            <a: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доступна.</a:t>
            </a:r>
            <a:endParaRPr lang="ru-RU" sz="32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75639" y="3189703"/>
            <a:ext cx="303417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Плюсы</a:t>
            </a:r>
            <a:r>
              <a:rPr lang="ru-RU" sz="32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 </a:t>
            </a:r>
            <a:r>
              <a:rPr lang="ru-RU" sz="3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преодолевает корявый интерфейс </a:t>
            </a:r>
            <a:endParaRPr lang="en-US" sz="3200" dirty="0" smtClean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  <a:p>
            <a:r>
              <a:rPr lang="ru-RU" sz="3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с</a:t>
            </a:r>
            <a: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айта.</a:t>
            </a:r>
            <a:endParaRPr lang="ru-RU" sz="32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132319" y="3228358"/>
            <a:ext cx="342250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Точный синтаксис</a:t>
            </a:r>
            <a:r>
              <a:rPr lang="ru-RU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:</a:t>
            </a:r>
          </a:p>
          <a:p>
            <a:r>
              <a:rPr lang="en-US" sz="3200" dirty="0" smtClean="0">
                <a:solidFill>
                  <a:srgbClr val="59E9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site</a:t>
            </a:r>
            <a:r>
              <a:rPr lang="ru-RU" sz="3200" dirty="0" smtClean="0">
                <a:solidFill>
                  <a:srgbClr val="59E9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:</a:t>
            </a:r>
            <a:r>
              <a:rPr 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example.com </a:t>
            </a:r>
            <a:endParaRPr lang="ru-RU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SemiConden" panose="020B0502040204020203" pitchFamily="34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204" y="454809"/>
            <a:ext cx="801450" cy="80145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654" y="365441"/>
            <a:ext cx="980186" cy="980186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7193279" y="5161832"/>
            <a:ext cx="28552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cache:</a:t>
            </a:r>
            <a:r>
              <a:rPr lang="en-US" sz="36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ubl.com</a:t>
            </a:r>
            <a:r>
              <a:rPr lang="en-US" sz="36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endParaRPr lang="ru-RU" sz="36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548" y="4745960"/>
            <a:ext cx="1521175" cy="147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79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75640" y="590406"/>
            <a:ext cx="412805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 </a:t>
            </a:r>
            <a:r>
              <a:rPr lang="en-US" sz="50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site</a:t>
            </a:r>
            <a:r>
              <a:rPr lang="ru-RU" sz="50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</a:t>
            </a:r>
            <a:r>
              <a:rPr lang="ru-RU" sz="50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–</a:t>
            </a:r>
            <a:r>
              <a:rPr lang="en-US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Примеры.</a:t>
            </a:r>
            <a:endParaRPr lang="ru-RU" sz="60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11226" y="1553995"/>
            <a:ext cx="53992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site:</a:t>
            </a:r>
            <a:r>
              <a:rPr lang="en-US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canarabank.com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sz="28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ext:</a:t>
            </a:r>
            <a:r>
              <a:rPr lang="en-US" sz="2800" dirty="0" err="1">
                <a:solidFill>
                  <a:srgbClr val="FC0253"/>
                </a:solidFill>
                <a:latin typeface="Bahnschrift SemiBold SemiConden" panose="020B0502040204020203" pitchFamily="34" charset="0"/>
              </a:rPr>
              <a:t>xlsx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tenders</a:t>
            </a:r>
            <a:endParaRPr lang="ru-RU" sz="28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20" y="2371904"/>
            <a:ext cx="5329646" cy="311453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204" y="454809"/>
            <a:ext cx="801450" cy="801450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5975666" y="1553995"/>
            <a:ext cx="6163867" cy="56938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Следует использовать если:</a:t>
            </a:r>
          </a:p>
          <a:p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-    Отсутствует поиск;</a:t>
            </a:r>
          </a:p>
          <a:p>
            <a:pPr marL="457200" indent="-457200">
              <a:buFontTx/>
              <a:buChar char="-"/>
            </a:pP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Есть скопление документов, </a:t>
            </a:r>
            <a:b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</a:b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которое нам интересно (точных</a:t>
            </a:r>
            <a:b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</a:b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объемов мы не знаем);</a:t>
            </a:r>
          </a:p>
          <a:p>
            <a:pPr marL="457200" indent="-457200">
              <a:buFontTx/>
              <a:buChar char="-"/>
            </a:pP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Удобная каталогизация и поиск</a:t>
            </a:r>
            <a:b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</a:b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того, чего вы не должны были </a:t>
            </a:r>
            <a:b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</a:br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увидеть:</a:t>
            </a:r>
            <a:b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</a:br>
            <a:r>
              <a:rPr lang="en-US" sz="28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site:</a:t>
            </a:r>
            <a:r>
              <a:rPr lang="en-US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files.sk.ru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sz="28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inurl</a:t>
            </a:r>
            <a:r>
              <a:rPr lang="en-US" sz="28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/</a:t>
            </a:r>
            <a:r>
              <a:rPr lang="en-US" sz="2800" dirty="0" err="1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company_files</a:t>
            </a: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/</a:t>
            </a:r>
            <a:endParaRPr lang="ru-RU" sz="2800" dirty="0" smtClean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  <a:p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    </a:t>
            </a:r>
            <a:r>
              <a:rPr lang="en-US" sz="2800" dirty="0" err="1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site:</a:t>
            </a:r>
            <a:r>
              <a:rPr lang="en-US" sz="2800" dirty="0" err="1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avinfotelegraph.com</a:t>
            </a: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sz="2800" dirty="0" err="1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inurl</a:t>
            </a:r>
            <a:r>
              <a:rPr lang="en-US" sz="28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</a:t>
            </a: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/report/</a:t>
            </a:r>
            <a:endParaRPr lang="ru-RU" sz="2800" dirty="0" smtClean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  <a:p>
            <a:endParaRPr lang="ru-RU" sz="2800" dirty="0" smtClean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  <a:p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</a:p>
          <a:p>
            <a:pPr marL="457200" indent="-457200">
              <a:buFontTx/>
              <a:buChar char="-"/>
            </a:pPr>
            <a:endParaRPr lang="ru-RU" sz="28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654" y="365441"/>
            <a:ext cx="980186" cy="9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565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75640" y="590406"/>
            <a:ext cx="412805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 </a:t>
            </a:r>
            <a:r>
              <a:rPr lang="en-US" sz="50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site</a:t>
            </a:r>
            <a:r>
              <a:rPr lang="ru-RU" sz="50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</a:t>
            </a:r>
            <a:r>
              <a:rPr lang="ru-RU" sz="50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–</a:t>
            </a:r>
            <a:r>
              <a:rPr lang="en-US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Примеры.</a:t>
            </a:r>
            <a:endParaRPr lang="ru-RU" sz="60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11226" y="1553995"/>
            <a:ext cx="51700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site:</a:t>
            </a:r>
            <a:r>
              <a:rPr lang="en-US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files.sk.ru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sz="28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inurl</a:t>
            </a:r>
            <a:r>
              <a:rPr lang="en-US" sz="28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/</a:t>
            </a:r>
            <a:r>
              <a:rPr lang="en-US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company_files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/</a:t>
            </a:r>
            <a:endParaRPr lang="ru-RU" sz="28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204" y="454809"/>
            <a:ext cx="801450" cy="801450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5975666" y="1553995"/>
            <a:ext cx="5537093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site:</a:t>
            </a:r>
            <a:r>
              <a:rPr lang="en-US" sz="2800" dirty="0" err="1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avinfotelegraph.com</a:t>
            </a: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sz="2800" dirty="0" err="1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inurl</a:t>
            </a:r>
            <a:r>
              <a:rPr lang="en-US" sz="28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</a:t>
            </a:r>
            <a:r>
              <a:rPr lang="en-US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/report/</a:t>
            </a:r>
            <a:endParaRPr lang="ru-RU" sz="2800" dirty="0" smtClean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  <a:p>
            <a:endParaRPr lang="ru-RU" sz="2800" dirty="0" smtClean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  <a:p>
            <a:r>
              <a:rPr lang="ru-RU" sz="28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</a:p>
          <a:p>
            <a:pPr marL="457200" indent="-457200">
              <a:buFontTx/>
              <a:buChar char="-"/>
            </a:pPr>
            <a:endParaRPr lang="ru-RU" sz="28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839" y="2313573"/>
            <a:ext cx="4040778" cy="336297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1538" y="2313573"/>
            <a:ext cx="3605348" cy="347994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654" y="365441"/>
            <a:ext cx="980186" cy="9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2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75640" y="590406"/>
            <a:ext cx="9352689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 </a:t>
            </a:r>
            <a:r>
              <a:rPr lang="en-US" sz="50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AROUND</a:t>
            </a:r>
            <a:r>
              <a:rPr lang="ru-RU" sz="50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(</a:t>
            </a:r>
            <a:r>
              <a:rPr lang="en-US" sz="50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X) </a:t>
            </a:r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– </a:t>
            </a:r>
            <a:r>
              <a:rPr lang="ru-RU" sz="36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Поиск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элементов, </a:t>
            </a:r>
            <a:r>
              <a:rPr lang="ru-RU" sz="36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которые </a:t>
            </a:r>
            <a:endParaRPr lang="en-US" sz="36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  <a:p>
            <a:r>
              <a:rPr lang="ru-RU" sz="36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находятся на расстоянии (X) слов.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5639" y="1924441"/>
            <a:ext cx="1099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Описание: </a:t>
            </a:r>
            <a:r>
              <a:rPr lang="ru-RU" sz="36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б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олее специфичен, чем кавычки; очень помогает, если вы знаете структуру документа. 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3709811" y="3189703"/>
            <a:ext cx="342250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Минусы</a:t>
            </a:r>
            <a:r>
              <a:rPr lang="ru-RU" sz="3200" dirty="0" smtClean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: </a:t>
            </a:r>
            <a:r>
              <a:rPr lang="ru-RU" sz="3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тащит очень много </a:t>
            </a:r>
            <a: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синонимов.</a:t>
            </a:r>
            <a:endParaRPr lang="ru-RU" sz="32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75639" y="3124770"/>
            <a:ext cx="303417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Плюсы: </a:t>
            </a:r>
            <a: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точность кавычек,  контекстная гибкость.</a:t>
            </a:r>
            <a:endParaRPr lang="ru-RU" sz="32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496595" y="3617212"/>
            <a:ext cx="549510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Точный синтаксис</a:t>
            </a:r>
            <a:r>
              <a:rPr lang="ru-RU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:</a:t>
            </a:r>
          </a:p>
          <a:p>
            <a:r>
              <a:rPr lang="ru-RU" sz="3200" dirty="0" smtClean="0">
                <a:solidFill>
                  <a:srgbClr val="59E9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"</a:t>
            </a:r>
            <a:r>
              <a:rPr lang="ru-RU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элемент</a:t>
            </a:r>
            <a:r>
              <a:rPr lang="ru-RU" sz="3200" dirty="0" smtClean="0">
                <a:solidFill>
                  <a:srgbClr val="59E9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" </a:t>
            </a:r>
            <a:r>
              <a:rPr lang="en-US" sz="3200" dirty="0" smtClean="0">
                <a:solidFill>
                  <a:srgbClr val="59E9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AROUND(</a:t>
            </a:r>
            <a:r>
              <a:rPr lang="en-US" sz="3200" dirty="0">
                <a:solidFill>
                  <a:srgbClr val="59E9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x</a:t>
            </a:r>
            <a:r>
              <a:rPr lang="en-US" sz="3200" dirty="0" smtClean="0">
                <a:solidFill>
                  <a:srgbClr val="59E9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) "</a:t>
            </a:r>
            <a:r>
              <a:rPr lang="ru-RU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элемент</a:t>
            </a:r>
            <a:r>
              <a:rPr lang="en-US" sz="3200" dirty="0" smtClean="0">
                <a:solidFill>
                  <a:srgbClr val="59E9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"</a:t>
            </a:r>
            <a:endParaRPr lang="ru-RU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SemiConden" panose="020B0502040204020203" pitchFamily="34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204" y="454809"/>
            <a:ext cx="801450" cy="80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371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75640" y="590406"/>
            <a:ext cx="571983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 </a:t>
            </a:r>
            <a:r>
              <a:rPr lang="en-US" sz="50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AROUND</a:t>
            </a:r>
            <a:r>
              <a:rPr lang="ru-RU" sz="50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(</a:t>
            </a:r>
            <a:r>
              <a:rPr lang="en-US" sz="50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X) </a:t>
            </a:r>
            <a:r>
              <a:rPr lang="ru-RU" sz="50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)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–</a:t>
            </a:r>
            <a:r>
              <a:rPr lang="en-US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Примеры.</a:t>
            </a:r>
            <a:endParaRPr lang="ru-RU" sz="60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313248" y="1858795"/>
            <a:ext cx="64508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"</a:t>
            </a:r>
            <a:r>
              <a:rPr lang="ru-RU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Смирнов</a:t>
            </a:r>
            <a:r>
              <a:rPr lang="ru-RU" sz="28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" </a:t>
            </a:r>
            <a:r>
              <a:rPr lang="en-US" sz="28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AROUND(4) "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email</a:t>
            </a:r>
            <a:r>
              <a:rPr lang="en-US" sz="28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" -</a:t>
            </a:r>
            <a:r>
              <a:rPr lang="en-US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RocketReach</a:t>
            </a:r>
            <a:endParaRPr lang="ru-RU" sz="28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204" y="454809"/>
            <a:ext cx="801450" cy="80145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370" y="2478286"/>
            <a:ext cx="5242562" cy="313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895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204" y="454809"/>
            <a:ext cx="801450" cy="80145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920968" y="475033"/>
            <a:ext cx="1481496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0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inurl</a:t>
            </a:r>
            <a:r>
              <a:rPr lang="en-US" sz="50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</a:t>
            </a:r>
            <a:endParaRPr lang="ru-RU" sz="5000" dirty="0">
              <a:solidFill>
                <a:srgbClr val="59E9F2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666959" y="475033"/>
            <a:ext cx="2116285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0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a</a:t>
            </a:r>
            <a:r>
              <a:rPr lang="en-US" sz="5000" dirty="0" err="1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llinurl</a:t>
            </a:r>
            <a:r>
              <a:rPr lang="ru-RU" sz="50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</a:t>
            </a:r>
            <a:endParaRPr lang="ru-RU" sz="5000" dirty="0">
              <a:solidFill>
                <a:srgbClr val="59E9F2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657341" y="1324864"/>
            <a:ext cx="2390398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0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allintitle</a:t>
            </a:r>
            <a:r>
              <a:rPr lang="en-US" sz="50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</a:t>
            </a:r>
            <a:endParaRPr lang="ru-RU" sz="5000" dirty="0">
              <a:solidFill>
                <a:srgbClr val="59E9F2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906931" y="1335766"/>
            <a:ext cx="1755609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0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intitle</a:t>
            </a:r>
            <a:r>
              <a:rPr lang="en-US" sz="50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</a:t>
            </a:r>
            <a:endParaRPr lang="ru-RU" sz="5000" dirty="0">
              <a:solidFill>
                <a:srgbClr val="59E9F2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906931" y="2117025"/>
            <a:ext cx="1887055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0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intext</a:t>
            </a:r>
            <a:r>
              <a:rPr lang="en-US" sz="50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 </a:t>
            </a:r>
            <a:endParaRPr lang="ru-RU" sz="5000" dirty="0">
              <a:solidFill>
                <a:srgbClr val="59E9F2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2666959" y="2128968"/>
            <a:ext cx="2371162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0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allintext</a:t>
            </a:r>
            <a:r>
              <a:rPr lang="en-US" sz="50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</a:t>
            </a:r>
            <a:endParaRPr lang="ru-RU" sz="5000" dirty="0">
              <a:solidFill>
                <a:srgbClr val="59E9F2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13874" y="1455375"/>
            <a:ext cx="56554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– где </a:t>
            </a:r>
            <a:r>
              <a:rPr lang="en-US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in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единственное, а </a:t>
            </a:r>
            <a:r>
              <a:rPr lang="en-US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all </a:t>
            </a:r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множественное</a:t>
            </a:r>
            <a:endParaRPr lang="ru-RU" sz="36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3709812" y="3124770"/>
            <a:ext cx="437174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Минусы</a:t>
            </a:r>
            <a:r>
              <a:rPr lang="ru-RU" sz="3200" dirty="0" smtClean="0">
                <a:solidFill>
                  <a:srgbClr val="FC0253"/>
                </a:solidFill>
                <a:latin typeface="Bahnschrift SemiBold SemiConden" panose="020B0502040204020203" pitchFamily="34" charset="0"/>
              </a:rPr>
              <a:t>: </a:t>
            </a:r>
            <a: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необходимы специальная знания для использования. </a:t>
            </a:r>
          </a:p>
          <a:p>
            <a: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(надо очень точно знать, что вы ищите)</a:t>
            </a:r>
            <a:endParaRPr lang="ru-RU" sz="32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675639" y="3124770"/>
            <a:ext cx="303417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Плюсы: </a:t>
            </a:r>
            <a: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найдете то, что не должны были найти</a:t>
            </a:r>
            <a:endParaRPr lang="ru-RU" sz="32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58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3527737" y="2682060"/>
            <a:ext cx="48926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inurl:</a:t>
            </a:r>
            <a:r>
              <a:rPr lang="en-US" sz="28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admin</a:t>
            </a:r>
            <a:r>
              <a:rPr lang="en-US" sz="28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sz="28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filetype:</a:t>
            </a:r>
            <a:r>
              <a:rPr lang="en-US" sz="2800" dirty="0" err="1">
                <a:solidFill>
                  <a:srgbClr val="FC0253"/>
                </a:solidFill>
                <a:latin typeface="Bahnschrift SemiBold SemiConden" panose="020B0502040204020203" pitchFamily="34" charset="0"/>
              </a:rPr>
              <a:t>xlsx</a:t>
            </a:r>
            <a:r>
              <a:rPr lang="en-US" sz="28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sz="28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site:</a:t>
            </a:r>
            <a:r>
              <a:rPr lang="en-US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gov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.</a:t>
            </a:r>
            <a:r>
              <a:rPr lang="en-US" sz="28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*</a:t>
            </a:r>
            <a:endParaRPr lang="ru-RU" sz="28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08054" y="244079"/>
            <a:ext cx="1481496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0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inurl</a:t>
            </a:r>
            <a:r>
              <a:rPr lang="en-US" sz="50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</a:t>
            </a:r>
            <a:endParaRPr lang="ru-RU" sz="5000" dirty="0">
              <a:solidFill>
                <a:srgbClr val="59E9F2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754045" y="244079"/>
            <a:ext cx="2116285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0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a</a:t>
            </a:r>
            <a:r>
              <a:rPr lang="en-US" sz="5000" dirty="0" err="1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llinurl</a:t>
            </a:r>
            <a:r>
              <a:rPr lang="ru-RU" sz="50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</a:t>
            </a:r>
            <a:endParaRPr lang="ru-RU" sz="5000" dirty="0">
              <a:solidFill>
                <a:srgbClr val="59E9F2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744427" y="1093910"/>
            <a:ext cx="2390398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0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allintitle</a:t>
            </a:r>
            <a:r>
              <a:rPr lang="en-US" sz="50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</a:t>
            </a:r>
            <a:endParaRPr lang="ru-RU" sz="5000" dirty="0">
              <a:solidFill>
                <a:srgbClr val="59E9F2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994017" y="1104812"/>
            <a:ext cx="1755609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0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intitle</a:t>
            </a:r>
            <a:r>
              <a:rPr lang="en-US" sz="50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</a:t>
            </a:r>
            <a:endParaRPr lang="ru-RU" sz="5000" dirty="0">
              <a:solidFill>
                <a:srgbClr val="59E9F2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994017" y="1886071"/>
            <a:ext cx="1887055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0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intext</a:t>
            </a:r>
            <a:r>
              <a:rPr lang="en-US" sz="50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 </a:t>
            </a:r>
            <a:endParaRPr lang="ru-RU" sz="5000" dirty="0">
              <a:solidFill>
                <a:srgbClr val="59E9F2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2754045" y="1898014"/>
            <a:ext cx="2371162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000" dirty="0" err="1">
                <a:solidFill>
                  <a:srgbClr val="59E9F2"/>
                </a:solidFill>
                <a:latin typeface="Bahnschrift SemiBold SemiConden" panose="020B0502040204020203" pitchFamily="34" charset="0"/>
              </a:rPr>
              <a:t>allintext</a:t>
            </a:r>
            <a:r>
              <a:rPr lang="en-US" sz="50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</a:t>
            </a:r>
            <a:endParaRPr lang="ru-RU" sz="5000" dirty="0">
              <a:solidFill>
                <a:srgbClr val="59E9F2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25207" y="1211473"/>
            <a:ext cx="5655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– пример</a:t>
            </a:r>
            <a:endParaRPr lang="ru-RU" sz="36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204" y="454809"/>
            <a:ext cx="801450" cy="80145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553" y="3205280"/>
            <a:ext cx="4929054" cy="347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131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009650"/>
          </a:xfrm>
        </p:spPr>
        <p:txBody>
          <a:bodyPr>
            <a:normAutofit/>
          </a:bodyPr>
          <a:lstStyle/>
          <a:p>
            <a:r>
              <a:rPr lang="ru-RU" sz="54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Кто я?</a:t>
            </a: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0" y="1209675"/>
            <a:ext cx="12192000" cy="21240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5000" dirty="0" smtClean="0">
              <a:latin typeface="Bahnschrift SemiBold SemiConden" panose="020B0502040204020203" pitchFamily="34" charset="0"/>
            </a:endParaRPr>
          </a:p>
          <a:p>
            <a:pPr algn="l"/>
            <a:endParaRPr lang="ru-RU" sz="5000" dirty="0"/>
          </a:p>
        </p:txBody>
      </p:sp>
      <p:sp>
        <p:nvSpPr>
          <p:cNvPr id="5" name="TextBox 4"/>
          <p:cNvSpPr txBox="1"/>
          <p:nvPr/>
        </p:nvSpPr>
        <p:spPr>
          <a:xfrm>
            <a:off x="505095" y="286763"/>
            <a:ext cx="10296526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3500" dirty="0" smtClean="0">
              <a:solidFill>
                <a:srgbClr val="09B37F"/>
              </a:solidFill>
              <a:latin typeface="Bahnschrift SemiBold SemiConden" panose="020B0502040204020203" pitchFamily="34" charset="0"/>
              <a:ea typeface="+mj-ea"/>
              <a:cs typeface="+mj-cs"/>
            </a:endParaRPr>
          </a:p>
          <a:p>
            <a:r>
              <a:rPr lang="en-US" sz="3200" dirty="0" smtClean="0">
                <a:solidFill>
                  <a:srgbClr val="59E9F2"/>
                </a:solidFill>
                <a:latin typeface="Bahnschrift SemiBold Condensed" panose="020B0502040204020203" pitchFamily="34" charset="0"/>
                <a:ea typeface="+mj-ea"/>
                <a:cs typeface="+mj-cs"/>
              </a:rPr>
              <a:t>@</a:t>
            </a:r>
            <a:r>
              <a:rPr lang="en-US" sz="3200" dirty="0" err="1" smtClean="0">
                <a:solidFill>
                  <a:srgbClr val="59E9F2"/>
                </a:solidFill>
                <a:latin typeface="Bahnschrift SemiBold Condensed" panose="020B0502040204020203" pitchFamily="34" charset="0"/>
                <a:ea typeface="+mj-ea"/>
                <a:cs typeface="+mj-cs"/>
              </a:rPr>
              <a:t>Schwarz_Osint</a:t>
            </a:r>
            <a:endParaRPr lang="ru-RU" sz="3200" dirty="0" smtClean="0">
              <a:solidFill>
                <a:srgbClr val="59E9F2"/>
              </a:solidFill>
              <a:latin typeface="Bahnschrift SemiBold Condensed" panose="020B0502040204020203" pitchFamily="34" charset="0"/>
              <a:ea typeface="+mj-ea"/>
              <a:cs typeface="+mj-cs"/>
            </a:endParaRPr>
          </a:p>
          <a:p>
            <a:endParaRPr lang="en-US" sz="3200" dirty="0" smtClean="0">
              <a:solidFill>
                <a:schemeClr val="bg1"/>
              </a:solidFill>
              <a:latin typeface="Bahnschrift SemiBold Condensed" panose="020B0502040204020203" pitchFamily="34" charset="0"/>
              <a:ea typeface="+mj-ea"/>
              <a:cs typeface="+mj-cs"/>
            </a:endParaRPr>
          </a:p>
          <a:p>
            <a:r>
              <a:rPr lang="en-US" sz="3200" dirty="0" smtClean="0">
                <a:solidFill>
                  <a:schemeClr val="bg1"/>
                </a:solidFill>
                <a:latin typeface="Bahnschrift SemiBold Condensed" panose="020B0502040204020203" pitchFamily="34" charset="0"/>
                <a:ea typeface="+mj-ea"/>
                <a:cs typeface="+mj-cs"/>
              </a:rPr>
              <a:t>OSINT</a:t>
            </a:r>
            <a:r>
              <a:rPr lang="ru-RU" sz="3200" dirty="0" smtClean="0">
                <a:solidFill>
                  <a:schemeClr val="bg1"/>
                </a:solidFill>
                <a:latin typeface="Bahnschrift SemiBold Condensed" panose="020B0502040204020203" pitchFamily="34" charset="0"/>
                <a:ea typeface="+mj-ea"/>
                <a:cs typeface="+mj-cs"/>
              </a:rPr>
              <a:t>–специалист.  Негодник, затейник </a:t>
            </a:r>
            <a:r>
              <a:rPr lang="ru-RU" sz="3200" dirty="0">
                <a:solidFill>
                  <a:schemeClr val="bg1"/>
                </a:solidFill>
                <a:latin typeface="Bahnschrift SemiBold Condensed" panose="020B0502040204020203" pitchFamily="34" charset="0"/>
                <a:ea typeface="+mj-ea"/>
                <a:cs typeface="+mj-cs"/>
              </a:rPr>
              <a:t>и просто шалопай. </a:t>
            </a:r>
          </a:p>
          <a:p>
            <a:r>
              <a:rPr lang="ru-RU" sz="3200" dirty="0" smtClean="0">
                <a:solidFill>
                  <a:schemeClr val="bg1"/>
                </a:solidFill>
                <a:latin typeface="Bahnschrift SemiBold Condensed" panose="020B0502040204020203" pitchFamily="34" charset="0"/>
                <a:ea typeface="+mj-ea"/>
                <a:cs typeface="+mj-cs"/>
              </a:rPr>
              <a:t>Автор докладов: </a:t>
            </a:r>
          </a:p>
          <a:p>
            <a: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- VATINT </a:t>
            </a:r>
            <a:r>
              <a:rPr lang="ru-RU" sz="3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(Можно ли с помощью OSINT найти угнанную </a:t>
            </a:r>
            <a: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/>
            </a:r>
            <a:b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</a:br>
            <a: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машину?) </a:t>
            </a:r>
            <a:endParaRPr lang="en-US" sz="3200" dirty="0" smtClean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  <a:p>
            <a:r>
              <a:rPr lang="ru-RU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- </a:t>
            </a:r>
            <a:r>
              <a:rPr lang="en-US" sz="32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Facial </a:t>
            </a:r>
            <a:r>
              <a:rPr lang="en-US" sz="3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Recognition </a:t>
            </a:r>
            <a:r>
              <a:rPr lang="ru-RU" sz="3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в </a:t>
            </a:r>
            <a:r>
              <a:rPr lang="en-US" sz="3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OSINT</a:t>
            </a:r>
            <a:endParaRPr lang="ru-RU" sz="32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  <a:p>
            <a:r>
              <a:rPr lang="ru-RU" sz="3200" dirty="0" smtClean="0">
                <a:solidFill>
                  <a:schemeClr val="bg1"/>
                </a:solidFill>
                <a:latin typeface="Bahnschrift SemiBold Condensed" panose="020B0502040204020203" pitchFamily="34" charset="0"/>
                <a:ea typeface="+mj-ea"/>
                <a:cs typeface="+mj-cs"/>
              </a:rPr>
              <a:t>Автор: </a:t>
            </a:r>
          </a:p>
          <a:p>
            <a:r>
              <a:rPr lang="ru-RU" sz="32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Статей </a:t>
            </a:r>
            <a:r>
              <a:rPr lang="ru-RU" sz="32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о</a:t>
            </a:r>
            <a:r>
              <a:rPr lang="ru-RU" sz="32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б </a:t>
            </a:r>
            <a:r>
              <a:rPr lang="en-US" sz="32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OSINT </a:t>
            </a:r>
            <a:r>
              <a:rPr lang="ru-RU" sz="3200" dirty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и </a:t>
            </a:r>
            <a:r>
              <a:rPr lang="en-US" sz="3200" dirty="0" err="1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OpSec</a:t>
            </a:r>
            <a:r>
              <a:rPr lang="ru-RU" sz="32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 и манула о написании аналитических отчетов</a:t>
            </a:r>
            <a:endParaRPr lang="en-US" sz="3200" dirty="0">
              <a:solidFill>
                <a:srgbClr val="59E9F2"/>
              </a:solidFill>
              <a:latin typeface="Bahnschrift SemiBold SemiConden" panose="020B0502040204020203" pitchFamily="34" charset="0"/>
            </a:endParaRPr>
          </a:p>
          <a:p>
            <a:r>
              <a:rPr lang="ru-RU" sz="3200" dirty="0" smtClean="0">
                <a:solidFill>
                  <a:schemeClr val="bg1"/>
                </a:solidFill>
                <a:latin typeface="Bahnschrift SemiBold Condensed" panose="020B0502040204020203" pitchFamily="34" charset="0"/>
                <a:ea typeface="+mj-ea"/>
                <a:cs typeface="+mj-cs"/>
              </a:rPr>
              <a:t>Как </a:t>
            </a:r>
            <a:r>
              <a:rPr lang="ru-RU" sz="3200" dirty="0">
                <a:solidFill>
                  <a:schemeClr val="bg1"/>
                </a:solidFill>
                <a:latin typeface="Bahnschrift SemiBold Condensed" panose="020B0502040204020203" pitchFamily="34" charset="0"/>
                <a:ea typeface="+mj-ea"/>
                <a:cs typeface="+mj-cs"/>
              </a:rPr>
              <a:t>со мной связаться?   </a:t>
            </a:r>
            <a:r>
              <a:rPr lang="en-US" sz="3500" dirty="0">
                <a:solidFill>
                  <a:srgbClr val="FC0253"/>
                </a:solidFill>
                <a:latin typeface="Bahnschrift SemiBold SemiConden" panose="020B0502040204020203" pitchFamily="34" charset="0"/>
                <a:ea typeface="+mj-ea"/>
                <a:cs typeface="+mj-cs"/>
              </a:rPr>
              <a:t>@</a:t>
            </a:r>
            <a:r>
              <a:rPr lang="en-US" sz="3500" dirty="0" err="1">
                <a:solidFill>
                  <a:srgbClr val="FC0253"/>
                </a:solidFill>
                <a:latin typeface="Bahnschrift SemiBold SemiConden" panose="020B0502040204020203" pitchFamily="34" charset="0"/>
                <a:ea typeface="+mj-ea"/>
                <a:cs typeface="+mj-cs"/>
              </a:rPr>
              <a:t>Schwarz_Osint_contact</a:t>
            </a:r>
            <a:r>
              <a:rPr lang="ru-RU" sz="3500" dirty="0">
                <a:solidFill>
                  <a:srgbClr val="FC0253"/>
                </a:solidFill>
                <a:latin typeface="Bahnschrift SemiBold SemiConden" panose="020B0502040204020203" pitchFamily="34" charset="0"/>
                <a:ea typeface="+mj-ea"/>
                <a:cs typeface="+mj-cs"/>
              </a:rPr>
              <a:t>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4499" y="600891"/>
            <a:ext cx="2381794" cy="238179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981726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945" y="380183"/>
            <a:ext cx="1658984" cy="1658984"/>
          </a:xfrm>
          <a:prstGeom prst="ellipse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814" y="2951421"/>
            <a:ext cx="2988131" cy="30115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46091" y="2181981"/>
            <a:ext cx="28055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Мой канал</a:t>
            </a:r>
            <a:r>
              <a:rPr lang="ru-RU" sz="44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 </a:t>
            </a:r>
            <a:endParaRPr lang="ru-RU" sz="4400" dirty="0">
              <a:solidFill>
                <a:srgbClr val="59E9F2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573" y="2951422"/>
            <a:ext cx="2999758" cy="301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28699" y="2181980"/>
            <a:ext cx="21275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 smtClean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Доклад</a:t>
            </a:r>
            <a:r>
              <a:rPr lang="ru-RU" sz="4400" dirty="0" smtClean="0">
                <a:solidFill>
                  <a:srgbClr val="59E9F2"/>
                </a:solidFill>
                <a:latin typeface="Bahnschrift SemiBold SemiConden" panose="020B0502040204020203" pitchFamily="34" charset="0"/>
              </a:rPr>
              <a:t>: </a:t>
            </a:r>
            <a:endParaRPr lang="ru-RU" sz="4400" dirty="0">
              <a:solidFill>
                <a:srgbClr val="59E9F2"/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211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781</Words>
  <Application>Microsoft Office PowerPoint</Application>
  <PresentationFormat>Широкоэкранный</PresentationFormat>
  <Paragraphs>142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1" baseType="lpstr">
      <vt:lpstr>Arial</vt:lpstr>
      <vt:lpstr>Bahnschrift SemiBold Condensed</vt:lpstr>
      <vt:lpstr>Bahnschrift SemiBold SemiConden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Кто я?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2023-02-03T09:39:57Z</dcterms:created>
  <dcterms:modified xsi:type="dcterms:W3CDTF">2023-02-04T14:40:04Z</dcterms:modified>
</cp:coreProperties>
</file>